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9b8a32067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9b8a32067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9b8a32067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9b8a32067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9b8a32067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9b8a32067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9b8a32067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9b8a32067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9b8a32067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9b8a32067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9b8a32067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9b8a32067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9b8a32067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9b8a32067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9b8a32067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9b8a32067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9b8a32067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9b8a32067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9b8a32067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9b8a32067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9b8a320677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9b8a32067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9b8a32067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9b8a32067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9b8a32067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9b8a32067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9b8a32067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9b8a32067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9b8a320677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9b8a32067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9b8a320677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9b8a320677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9b8a320677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9b8a320677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9b8a320677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9b8a320677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9b8a320677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9b8a320677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9ddc0c95b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9ddc0c95b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2221" y="5739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Analysez les ventes d’une libraire : Lapage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4378100"/>
            <a:ext cx="3498000" cy="4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800"/>
              <a:t>Herbet_Thomas_6_15112023</a:t>
            </a:r>
            <a:endParaRPr i="1" sz="1800"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3500" y="2720850"/>
            <a:ext cx="2738025" cy="9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Sommaire : 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Présentation du contexte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Analyse exploratoire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Analyse des ventes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Analyse des clients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Corrélations entre les clients et les ventes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Conclusions</a:t>
            </a:r>
            <a:endParaRPr/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fr"/>
              <a:t>Présentation du contexte</a:t>
            </a:r>
            <a:r>
              <a:rPr lang="fr"/>
              <a:t> 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Librairie physique avec plusieurs point de vente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Ouverture d’e-commerce depuis 2 ans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Besoin de comprendre ses données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Recrutement d’un data analyst pour analyser son activité en ligne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Collaboration avec équipe marketing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fr"/>
              <a:t>Présentation du contexte 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en 2 parties 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KPI de vente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KPI clients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2. Analyse exploratoire</a:t>
            </a:r>
            <a:r>
              <a:rPr lang="fr"/>
              <a:t> 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Dataset ‘customers 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8621 lignes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3 colonnes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45 ans en moyenne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1929 - 2004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Attention RGPD :”Année de naissance”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Pas de doublons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Pas d’erreur de format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Pas de valeurs </a:t>
            </a:r>
            <a:r>
              <a:rPr lang="fr"/>
              <a:t>aberrantes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Pas de valeurs manquantes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1925" y="1942100"/>
            <a:ext cx="3753150" cy="252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356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2. Analyse exploratoire 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Dataset ‘products’ 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3 286 lignes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3 colonnes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3 catégories de livres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Écart</a:t>
            </a:r>
            <a:r>
              <a:rPr lang="fr"/>
              <a:t> interquartile élevé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Pas de doublons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Pas d’erreur de format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Pas de valeurs aberrantes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Pas de valeurs manquantes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7550" y="1017725"/>
            <a:ext cx="3991025" cy="399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/>
          <p:nvPr/>
        </p:nvSpPr>
        <p:spPr>
          <a:xfrm>
            <a:off x="3361250" y="1854600"/>
            <a:ext cx="1836300" cy="1059900"/>
          </a:xfrm>
          <a:prstGeom prst="wedgeRoundRectCallout">
            <a:avLst>
              <a:gd fmla="val 71933" name="adj1"/>
              <a:gd fmla="val 37055" name="adj2"/>
              <a:gd fmla="val 0" name="adj3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½ livres : 13 €</a:t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3751175" y="3751375"/>
            <a:ext cx="1836300" cy="1059900"/>
          </a:xfrm>
          <a:prstGeom prst="wedgeRoundRectCallout">
            <a:avLst>
              <a:gd fmla="val 55176" name="adj1"/>
              <a:gd fmla="val -66912" name="adj2"/>
              <a:gd fmla="val 0" name="adj3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¼</a:t>
            </a:r>
            <a:r>
              <a:rPr lang="fr"/>
              <a:t> </a:t>
            </a:r>
            <a:r>
              <a:rPr lang="fr"/>
              <a:t> livres : 7 €</a:t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4040600" y="377325"/>
            <a:ext cx="1836300" cy="1059900"/>
          </a:xfrm>
          <a:prstGeom prst="wedgeRoundRectCallout">
            <a:avLst>
              <a:gd fmla="val 40907" name="adj1"/>
              <a:gd fmla="val 73000" name="adj2"/>
              <a:gd fmla="val 0" name="adj3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¼  livres : 23 €</a:t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6603838" y="553225"/>
            <a:ext cx="1178400" cy="283200"/>
          </a:xfrm>
          <a:prstGeom prst="mathMinus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 rot="5400000">
            <a:off x="6825850" y="815375"/>
            <a:ext cx="734400" cy="283200"/>
          </a:xfrm>
          <a:prstGeom prst="mathMinus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6603838" y="4860300"/>
            <a:ext cx="1178400" cy="283200"/>
          </a:xfrm>
          <a:prstGeom prst="mathMinus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 rot="5400000">
            <a:off x="6825850" y="4585675"/>
            <a:ext cx="734400" cy="283200"/>
          </a:xfrm>
          <a:prstGeom prst="mathMinus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6603838" y="328900"/>
            <a:ext cx="1350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Max = 300 €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6603838" y="4925600"/>
            <a:ext cx="1350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Min = 0,62 €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2. Analyse exploratoire </a:t>
            </a:r>
            <a:endParaRPr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Dataset ‘transactions’ 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687 534  lignes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4 colonnes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Pas de doublons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problème de format avec la date → Timestamp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Pas de valeurs aberrantes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Manque 21 livres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6250" y="2037525"/>
            <a:ext cx="2741850" cy="274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Analyse des ventes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11700" y="1241425"/>
            <a:ext cx="295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 2021, le CA est de :  4944.76 k €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En 2022, le CA est de :  6108.68 k €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En 2023, le CA est de :  974.22 k €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2022 : + 23 %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Le chiffre d'affaires depuis le début du magasin en ligne est de plus de 12 millions </a:t>
            </a:r>
            <a:r>
              <a:rPr lang="fr"/>
              <a:t> </a:t>
            </a:r>
            <a:r>
              <a:rPr lang="fr"/>
              <a:t>€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8423" y="1330375"/>
            <a:ext cx="5453874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Analyse des ventes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00" y="1152475"/>
            <a:ext cx="258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Courbe de Lorenz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relativement éloigné de la droite d’égalité.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Coeff de GINI : 0,4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Correction autour des 90 % càd des ventes dont le montant est plus important que les autres.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4 gros clients = B2B, Libraire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2900" y="1152482"/>
            <a:ext cx="5939399" cy="2926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Analyse des ventes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1152475"/>
            <a:ext cx="258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Saisonnalité</a:t>
            </a:r>
            <a:r>
              <a:rPr lang="fr"/>
              <a:t> des ventes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Baisse de CA aux mois de : Jui</a:t>
            </a:r>
            <a:r>
              <a:rPr lang="fr"/>
              <a:t>n, Janvier, Février et Novembre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Année 2023 incomplet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2900" y="1152475"/>
            <a:ext cx="5939399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Analyse des ventes</a:t>
            </a:r>
            <a:endParaRPr/>
          </a:p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0186" y="1017713"/>
            <a:ext cx="4723625" cy="377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4. Analyse des clients</a:t>
            </a:r>
            <a:endParaRPr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311700" y="1152475"/>
            <a:ext cx="258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Parité équilibrée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30 - 60 ans plus nombreux</a:t>
            </a:r>
            <a:endParaRPr/>
          </a:p>
        </p:txBody>
      </p: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499" y="1152484"/>
            <a:ext cx="4260300" cy="4265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4. </a:t>
            </a:r>
            <a:r>
              <a:rPr lang="fr"/>
              <a:t>Analyse des clients</a:t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311700" y="1152475"/>
            <a:ext cx="258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Segmentation client en fonction du score RFM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10 % de clients à forte valeur ajoutée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Besoin d’analyser les 30% de la catégorie ‘Lost customers’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3013" y="1241425"/>
            <a:ext cx="5210175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4. Analyse des clients</a:t>
            </a:r>
            <a:endParaRPr/>
          </a:p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1500" y="1074812"/>
            <a:ext cx="3667848" cy="3667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6"/>
          <p:cNvPicPr preferRelativeResize="0"/>
          <p:nvPr/>
        </p:nvPicPr>
        <p:blipFill rotWithShape="1">
          <a:blip r:embed="rId5">
            <a:alphaModFix/>
          </a:blip>
          <a:srcRect b="8765" l="-46059" r="46060" t="-4359"/>
          <a:stretch/>
        </p:blipFill>
        <p:spPr>
          <a:xfrm>
            <a:off x="-2537700" y="942025"/>
            <a:ext cx="6896100" cy="39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5. Corrélations</a:t>
            </a:r>
            <a:endParaRPr/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311700" y="1152475"/>
            <a:ext cx="258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lien entre le genre d’un client et les catégories des livres 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Répartition équilibré des catégorie entre les femmes et les hommes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Le test de Chi2 montre que le sexe du client a un impact sur  le genre de livre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7298" y="1492038"/>
            <a:ext cx="5465150" cy="26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5. Corrélations</a:t>
            </a:r>
            <a:endParaRPr/>
          </a:p>
        </p:txBody>
      </p:sp>
      <p:sp>
        <p:nvSpPr>
          <p:cNvPr id="196" name="Google Shape;196;p28"/>
          <p:cNvSpPr txBox="1"/>
          <p:nvPr>
            <p:ph idx="1" type="body"/>
          </p:nvPr>
        </p:nvSpPr>
        <p:spPr>
          <a:xfrm>
            <a:off x="311700" y="1152475"/>
            <a:ext cx="258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lien entre l'âge des clients et le montant total des achats 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Montant des 19-49 ans est élevé.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Test de Pearson confirme que l’âge a un impact sur le montant total des achats</a:t>
            </a:r>
            <a:endParaRPr/>
          </a:p>
        </p:txBody>
      </p:sp>
      <p:sp>
        <p:nvSpPr>
          <p:cNvPr id="197" name="Google Shape;19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98" name="Google Shape;19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4199" y="673525"/>
            <a:ext cx="5263774" cy="420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5. Corrélations</a:t>
            </a:r>
            <a:endParaRPr/>
          </a:p>
        </p:txBody>
      </p:sp>
      <p:sp>
        <p:nvSpPr>
          <p:cNvPr id="205" name="Google Shape;205;p29"/>
          <p:cNvSpPr txBox="1"/>
          <p:nvPr>
            <p:ph idx="1" type="body"/>
          </p:nvPr>
        </p:nvSpPr>
        <p:spPr>
          <a:xfrm>
            <a:off x="311700" y="1152475"/>
            <a:ext cx="258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lien entre l'âge des clients et la fréquence d’achat :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19 - 33 ans ont une fréquence d’achat moins élevé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Test de Pearson confirme cette tendance</a:t>
            </a:r>
            <a:endParaRPr/>
          </a:p>
        </p:txBody>
      </p:sp>
      <p:sp>
        <p:nvSpPr>
          <p:cNvPr id="206" name="Google Shape;20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07" name="Google Shape;20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2449" y="1152475"/>
            <a:ext cx="580985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5. Corrélations</a:t>
            </a:r>
            <a:endParaRPr/>
          </a:p>
        </p:txBody>
      </p:sp>
      <p:sp>
        <p:nvSpPr>
          <p:cNvPr id="214" name="Google Shape;214;p30"/>
          <p:cNvSpPr txBox="1"/>
          <p:nvPr>
            <p:ph idx="1" type="body"/>
          </p:nvPr>
        </p:nvSpPr>
        <p:spPr>
          <a:xfrm>
            <a:off x="311700" y="1152475"/>
            <a:ext cx="258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lien entre l'âge des clients et la taille du panier moyen 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19 - 33 ans dépensent plus que les autres.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Test de Pearson confirme cette tendance également.</a:t>
            </a:r>
            <a:endParaRPr/>
          </a:p>
        </p:txBody>
      </p:sp>
      <p:sp>
        <p:nvSpPr>
          <p:cNvPr id="215" name="Google Shape;21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16" name="Google Shape;21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4375" y="952500"/>
            <a:ext cx="5437926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5. Corrélations</a:t>
            </a:r>
            <a:endParaRPr/>
          </a:p>
        </p:txBody>
      </p:sp>
      <p:sp>
        <p:nvSpPr>
          <p:cNvPr id="223" name="Google Shape;223;p31"/>
          <p:cNvSpPr txBox="1"/>
          <p:nvPr>
            <p:ph idx="1" type="body"/>
          </p:nvPr>
        </p:nvSpPr>
        <p:spPr>
          <a:xfrm>
            <a:off x="311700" y="1152475"/>
            <a:ext cx="258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lien entre l'âge des clients et la catégorie des livres achetés 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Catégorie 0 est prisée par les clients de 30 à 49 ans.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Test de Levene montre que l’âge influence le type de livre que le client va acheter.</a:t>
            </a:r>
            <a:endParaRPr/>
          </a:p>
        </p:txBody>
      </p:sp>
      <p:sp>
        <p:nvSpPr>
          <p:cNvPr id="224" name="Google Shape;22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25" name="Google Shape;22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2770" y="1017725"/>
            <a:ext cx="409968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6. Conclusions</a:t>
            </a:r>
            <a:endParaRPr/>
          </a:p>
        </p:txBody>
      </p:sp>
      <p:sp>
        <p:nvSpPr>
          <p:cNvPr id="232" name="Google Shape;232;p32"/>
          <p:cNvSpPr txBox="1"/>
          <p:nvPr>
            <p:ph idx="1" type="body"/>
          </p:nvPr>
        </p:nvSpPr>
        <p:spPr>
          <a:xfrm>
            <a:off x="311700" y="1152475"/>
            <a:ext cx="798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 soumis aux saisonnalités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Clients mixtes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Catégorie 1 enregistre le plus de ventes.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10 % de clients à forte valeur ajoutée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Les tests statistiques montrent 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l’âge et le sexe ont un impact sur la catégorie de livre, le montant et la fréquence d’achat.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Grande diversité de comportement d’achat.</a:t>
            </a:r>
            <a:endParaRPr/>
          </a:p>
        </p:txBody>
      </p:sp>
      <p:sp>
        <p:nvSpPr>
          <p:cNvPr id="233" name="Google Shape;23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201951" y="-2032874"/>
            <a:ext cx="6741125" cy="910847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3"/>
          <p:cNvSpPr txBox="1"/>
          <p:nvPr>
            <p:ph type="title"/>
          </p:nvPr>
        </p:nvSpPr>
        <p:spPr>
          <a:xfrm>
            <a:off x="20050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MERCI POUR VOTRE ATTENTION</a:t>
            </a:r>
            <a:endParaRPr/>
          </a:p>
        </p:txBody>
      </p:sp>
      <p:sp>
        <p:nvSpPr>
          <p:cNvPr id="240" name="Google Shape;24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